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Segoe UI"/>
              </a:defRPr>
            </a:pPr>
            <a:r>
              <a:t>UNIVERSIDAD NACIONAL HERMILIO VALDIZÁN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  <a:latin typeface="Segoe UI"/>
              </a:defRPr>
            </a:pPr>
            <a:r>
              <a:t>Facultad de Ingeniería Industrial, de Sistemas y Mecatrónica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Sistema de Riego Inteligente</a:t>
            </a:r>
            <a:br/>
            <a:r>
              <a:t>para un Huerto Universitario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C853"/>
                </a:solidFill>
                <a:latin typeface="Segoe UI"/>
              </a:defRPr>
            </a:pPr>
            <a:r>
              <a:t>Gemelo Digital y Simulación de Infraestructura de 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743200" cy="36576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BB"/>
                </a:solidFill>
                <a:latin typeface="Segoe UI"/>
              </a:defRPr>
            </a:pPr>
            <a:r>
              <a:t>Integrantes: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803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Orbezo Falcon, Abel Isaac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803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Bernardo Cuellar, Jean Carlos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803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Gilian Aguilar, Phatrick Sahit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803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Dias Valles, Russell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803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De la Cruz Guillen, Julio Cesar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  <a:latin typeface="Segoe UI"/>
              </a:defRPr>
            </a:pPr>
            <a:r>
              <a:t>Docente: Dra. Ines Eusebia Jesus Tolentino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Segoe UI"/>
              </a:defRPr>
            </a:pPr>
            <a:r>
              <a:t>Ciencias Sociales y del Comportamiento Humano  |  Huánuco – Perú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1645920"/>
            <a:ext cx="1737360" cy="1737360"/>
          </a:xfrm>
          <a:prstGeom prst="ellipse">
            <a:avLst/>
          </a:prstGeom>
          <a:solidFill>
            <a:srgbClr val="008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371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t>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Crisis Alimentaria y Brecha Tecnológica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389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FF"/>
                </a:solidFill>
                <a:latin typeface="Segoe UI"/>
              </a:defRPr>
            </a:pPr>
            <a:r>
              <a:t>🌍  Contexto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La FAO (2022) señala deficiencias en infraestructura para alimentos frescos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La ONU (2021) exige modelos de producción que minimicen impacto ambiental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El agua y el suelo son recursos vitales y finitos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Brecha entre formación teórica y resolución de problemas reales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03520" cy="4389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🏫  Contexto Local (UNHEVAL)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Ausencia de huerto inteligente en la universidad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Toma de decisiones empírica sin sensores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Carencia de infraestructura tecnológica en áreas de cultivo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Falta de espacios para aprendizaje práctico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89920" cy="731520"/>
          </a:xfrm>
          <a:prstGeom prst="roundRect">
            <a:avLst/>
          </a:prstGeom>
          <a:solidFill>
            <a:srgbClr val="332200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77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600"/>
                </a:solidFill>
                <a:latin typeface="Segoe UI"/>
              </a:defRPr>
            </a:pPr>
            <a:r>
              <a:t>▸ Problema central: Ausencia de un modelo de huerto universitario inteligente que articule producción agroecológica con tecnología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¿Qué queremos lograr?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89920" cy="1371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Segoe UI"/>
              </a:defRPr>
            </a:pPr>
            <a:r>
              <a:t>Diseñar y planificar un modelo de huerto universitario inteligente, técnica y presupuestalmente viable, que articule producción agroecológica, innovación tecnológica, aprendizaje práctico y sostenibilidad en la comunidad universitaria de la UNHEVAL.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OBJETIVOS ESPECÍFICOS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49039"/>
            <a:ext cx="384048" cy="384048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67327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Segoe UI"/>
              </a:defRPr>
            </a:pPr>
            <a:r>
              <a:t>Diseñar la propuesta técnica del huerto, considerando organización del espacio y módulos de cultivo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15968"/>
            <a:ext cx="384048" cy="384048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34255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Segoe UI"/>
              </a:defRPr>
            </a:pPr>
            <a:r>
              <a:t>Planificar la incorporación progresiva de tecnologías IoT (sensores, monitoreo)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82896"/>
            <a:ext cx="384048" cy="384048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82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901183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Segoe UI"/>
              </a:defRPr>
            </a:pPr>
            <a:r>
              <a:t>Estructurar propuesta presupuestal y operativa para implementación gradual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449823"/>
            <a:ext cx="384048" cy="384048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4982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46811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Segoe UI"/>
              </a:defRPr>
            </a:pPr>
            <a:r>
              <a:t>Diseñar acciones formativas con aprendizaje experiencial y educación ambiental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6016752"/>
            <a:ext cx="384048" cy="384048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16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0350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Segoe UI"/>
              </a:defRPr>
            </a:pPr>
            <a:r>
              <a:t>Establecer un modelo replicable que contribuya a la sostenibilidad institucional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FFF"/>
                </a:solidFill>
                <a:latin typeface="Segoe UI"/>
              </a:defRPr>
            </a:pPr>
            <a:r>
              <a:t>DESCRIPCIÓN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¿Cómo funciona el Huerto Inteligente?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92608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FFF"/>
                </a:solidFill>
                <a:latin typeface="Segoe UI"/>
              </a:defRPr>
            </a:pPr>
            <a:r>
              <a:t>⚡  ESP32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Lee 10 sensores cada 0.5s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Controla relays (bomba, ventilador, pulverizador)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Lazo cerrado automático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C85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292608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53"/>
                </a:solidFill>
                <a:latin typeface="Segoe UI"/>
              </a:defRPr>
            </a:pPr>
            <a:r>
              <a:t>🌐 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API en FastAPI (Render)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Piggyback: sensores + comandos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Endpoints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C85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🗄️ 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PostgreSQL en la nube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6 tablas: sensores, lecturas, alertas...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Realtime para el 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114800"/>
            <a:ext cx="7772400" cy="2103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206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Segoe UI"/>
              </a:defRPr>
            </a:pPr>
            <a:r>
              <a:t>🖥️  Frontend Web (SPA Brutalista)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663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D6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Dashboard en tiempo real: gráfico, sensores, actuadores, configuración de umbrales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D6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Simulación de sequía, pH, temperatura, humedad → envía alertas al ESP32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D6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OverrideManager: ciclo visual de 3 fases (DEGRADING → HOLDING → RECOVERING)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D6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Juego educativo interactivo para aprender sobre riego inteligente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C853"/>
                </a:solidFill>
                <a:latin typeface="Segoe U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HARDWARE POR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Cada invernadero = 1 ESP32 + 10 sensores + actuadores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Microcontrolador</a:t>
            </a:r>
            <a:br/>
            <a:r>
              <a:t>Wi-Fi + Bluetooth</a:t>
            </a:r>
            <a:br/>
            <a:r>
              <a:t>Doble núcleo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00"/>
                </a:solidFill>
                <a:latin typeface="Segoe UI"/>
              </a:defRPr>
            </a:pPr>
            <a:r>
              <a:t>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DHT22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Temperatura y</a:t>
            </a:r>
            <a:br/>
            <a:r>
              <a:t>Humedad ambiente</a:t>
            </a:r>
            <a:br/>
            <a:r>
              <a:t>1 por invernadero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C853"/>
                </a:solidFill>
                <a:latin typeface="Segoe UI"/>
              </a:defRPr>
            </a:pPr>
            <a:r>
              <a:t>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Humedad Suelo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4 sensores capacitivos</a:t>
            </a:r>
            <a:br/>
            <a:r>
              <a:t>1 por maceta</a:t>
            </a:r>
            <a:br/>
            <a:r>
              <a:t>Lectura analógica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3736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4545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 Suelo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4 sensores</a:t>
            </a:r>
            <a:br/>
            <a:r>
              <a:t>1 por maceta</a:t>
            </a:r>
            <a:br/>
            <a:r>
              <a:t>Rango 0-14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CCC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DD"/>
                </a:solidFill>
                <a:latin typeface="Segoe UI"/>
              </a:defRPr>
            </a:pPr>
            <a:r>
              <a:t>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OLED 0.96"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Display I2C</a:t>
            </a:r>
            <a:br/>
            <a:r>
              <a:t>5 páginas</a:t>
            </a:r>
            <a:br/>
            <a:r>
              <a:t>Estado en tiempo real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11480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FFF"/>
                </a:solidFill>
                <a:latin typeface="Segoe UI"/>
              </a:defRPr>
            </a:pPr>
            <a:r>
              <a:t>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MUX 74HC4067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0749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16 canales analógicos</a:t>
            </a:r>
            <a:br/>
            <a:r>
              <a:t>Multiplexa 8 sensores</a:t>
            </a:r>
            <a:br/>
            <a:r>
              <a:t>1 pin ADC del ESP32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1480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C853"/>
                </a:solidFill>
                <a:latin typeface="Segoe UI"/>
              </a:defRPr>
            </a:pPr>
            <a: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Shift Register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749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74HC595</a:t>
            </a:r>
            <a:br/>
            <a:r>
              <a:t>8 LEDs (4 verde + 4 rojo)</a:t>
            </a:r>
            <a:br/>
            <a:r>
              <a:t>3 GPIO del ESP32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114800"/>
            <a:ext cx="25603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00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Relays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50749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3 por maceta</a:t>
            </a:r>
            <a:br/>
            <a:r>
              <a:t>Bomba / Ventilador /</a:t>
            </a:r>
            <a:br/>
            <a:r>
              <a:t>Pulverizador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FFF"/>
                </a:solidFill>
                <a:latin typeface="Segoe UI"/>
              </a:defRPr>
            </a:pPr>
            <a:r>
              <a:t>CONECIONES Y PIN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Distribución de pines del ESP32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Segoe UI"/>
              </a:defRPr>
            </a:pPr>
            <a:r>
              <a:t>MUX CD74HC4067 — Sensores Analógicos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S0=GPIO27  |  S1=GPIO16  |  S2=GPIO17  |  S3=GPIO18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SIG=GPIO34 (ADC del ESP32)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C0 → Humedad Suelo MAC-1    C4 → Humedad Suelo MAC-3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C1 → pH MAC-1                      C5 → pH MAC-3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C2 → Humedad Suelo MAC-2    C6 → Humedad Suelo MAC-4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C3 → pH MAC-2                      C7 → pH MAC-4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BFFF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DHT22 = GPIO4 (compartido)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48640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Segoe UI"/>
              </a:defRPr>
            </a:pPr>
            <a:r>
              <a:t>Actuadores y LEDs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MAC-1: Bomba=GPIO32 | Vent=GPIO14 | Pulv=GPIO5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MAC-2: Bomba=GPIO23 | Vent=GPIO0  | Pulv=GPIO15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MAC-3: Bomba=GPIO12 | Vent=GPIO11 | Pulv=GPIO10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MAC-4: Bomba=GPIO8  | Vent=GPIO7  | Pulv=GPIO6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74HC595 Shift Register: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  DS=GPIO2 | SHCP=GPIO3 | STCP=GPIO19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  Q0-Q3 = Verde (relay activo)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  Q4-Q7 = Rojo (condición crítica)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LEDs globales: Naranja=33 | Amarillo=25 | Verde=1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0789920" cy="548640"/>
          </a:xfrm>
          <a:prstGeom prst="roundRect">
            <a:avLst/>
          </a:prstGeom>
          <a:solidFill>
            <a:srgbClr val="112211"/>
          </a:solidFill>
          <a:ln w="19050">
            <a:solidFill>
              <a:srgbClr val="008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989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Segoe UI"/>
              </a:defRPr>
            </a:pPr>
            <a:r>
              <a:t>▸ 50 sensores totales: 5 invernaderos × (2 compartidos + 4×2 por maceta) = 50 IDs en Supabase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FLUJO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Piggyback: todo en una sola llamada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28600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FFF"/>
                </a:solidFill>
                <a:latin typeface="Segoe UI"/>
              </a:defRPr>
            </a:pPr>
            <a:r>
              <a:t>ESP32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DHT22: temp + hum_amb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MUX: 4× hum_suelo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MUX: 4× pH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Total: 10 sensores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BFFF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Cada 0.5 segundos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645920"/>
            <a:ext cx="228600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182880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53"/>
                </a:solidFill>
                <a:latin typeface="Segoe UI"/>
              </a:defRPr>
            </a:pPr>
            <a:r>
              <a:t>Envía al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POST /api/sync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Device: 1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Sensors: {0:25.3,...}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Pending: true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C853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Cada 7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645920"/>
            <a:ext cx="228600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182880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Bridge Procesa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Batch INSERT 10 filas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Consulta commands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Consulta overrides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Limpia alertas viejas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8C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Todo en paralelo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645920"/>
            <a:ext cx="301752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0" y="1828800"/>
            <a:ext cx="548640" cy="54864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12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Respuesta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92608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FD6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ok: true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D6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sensors_written: 10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D6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commands: [relays]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D6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overrides: [alertas]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D600"/>
                </a:solidFill>
                <a:latin typeface="Segoe UI"/>
              </a:rPr>
              <a:t>▸ </a:t>
            </a:r>
            <a:r>
              <a:rPr sz="1100">
                <a:solidFill>
                  <a:srgbClr val="CCCCDD"/>
                </a:solidFill>
                <a:latin typeface="Segoe UI"/>
              </a:rPr>
              <a:t>ESP32 aplica todo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12211"/>
          </a:solidFill>
          <a:ln w="19050">
            <a:solidFill>
              <a:srgbClr val="008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Segoe UI"/>
              </a:defRPr>
            </a:pPr>
            <a:r>
              <a:t>▸ 1 llamada HTTP reemplaza 4: sensores + comandos + overrides + cleanup = bajo uso de RAM en ESP32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SIMULACIÓN Y CICLO DE OVERRIDE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Creando escenarios críticos para probar el lazo cerrado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5603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Botones de Simulación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8C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SEQUÍA → hum_suelo baja a 10% (per-maceta)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8C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pH CRÍTICO → pH sube a 10.0 (per-maceta)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8C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TEMP EXTREMA → temp sube a 45°C (compartido)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8C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HUMEDAD BAJA → hum_amb baja a 15% (compartido)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8C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8C00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Validación: si valor dentro de umbrales → RECHAZA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486400" cy="25603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Segoe UI"/>
              </a:defRPr>
            </a:pPr>
            <a:r>
              <a:t>Ciclo de Override (ESP32)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454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1. DEGRADING (21s): valor actual → crítico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454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    7 pasos graduales × 3s cada uno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454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2. HOLDING (2s): se mantiene en crítico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454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3. RECOVERING (60s): crítico → setpoint ideal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454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    20 pasos graduales × 3s cada uno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4545"/>
                </a:solidFill>
                <a:latin typeface="Segoe UI"/>
              </a:rPr>
              <a:t>▸ </a:t>
            </a:r>
            <a:r>
              <a:rPr sz="1200">
                <a:solidFill>
                  <a:srgbClr val="CCCCDD"/>
                </a:solidFill>
                <a:latin typeface="Segoe UI"/>
              </a:rPr>
              <a:t>TTL: 120 segundos → expira automáticamente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899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Timeline de Visualización en Frontend (x10 más lento)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212080"/>
            <a:ext cx="1371600" cy="640080"/>
          </a:xfrm>
          <a:prstGeom prst="roundRect">
            <a:avLst/>
          </a:prstGeom>
          <a:solidFill>
            <a:srgbClr val="66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WAITING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30s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39" y="5212080"/>
            <a:ext cx="3657600" cy="640080"/>
          </a:xfrm>
          <a:prstGeom prst="round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DEGRADING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39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210s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212080"/>
            <a:ext cx="1097280" cy="64008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HOLDING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532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20s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5212080"/>
            <a:ext cx="3200400" cy="6400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RECOVERING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100s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5212080"/>
            <a:ext cx="731520" cy="640080"/>
          </a:xfrm>
          <a:prstGeom prst="roundRect">
            <a:avLst/>
          </a:prstGeom>
          <a:solidFill>
            <a:srgbClr val="66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▸ Actuadores visuales (bomba, ventilador, pulverizador) solo se muestran ON durante RECOVERING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LAZO CERRADO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El ESP32 toma decisiones sin intervención humana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FFF"/>
                </a:solidFill>
                <a:latin typeface="Segoe UI"/>
              </a:defRPr>
            </a:pPr>
            <a:r>
              <a:t>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BOMBA DE AGUA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Controla: Humedad del suelo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3108960" cy="27432"/>
          </a:xfrm>
          <a:prstGeom prst="round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BFFF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ON si hum_suelo &lt; 30%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FFF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OFF si hum_suelo &gt; 55%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FFF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Riego por goteo individual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C853"/>
                </a:solidFill>
                <a:latin typeface="Segoe UI"/>
              </a:defRPr>
            </a:pPr>
            <a:r>
              <a:t>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VENTILADOR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Controla: Temperatura y humedad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200400"/>
            <a:ext cx="3108960" cy="27432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C853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ON si temp &gt; 35°C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C853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ON si hum_amb &gt; 85%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C853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OFF si temp &lt; 30°C y hum_amb &lt; 75%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8C00"/>
                </a:solidFill>
                <a:latin typeface="Segoe UI"/>
              </a:defRPr>
            </a:pPr>
            <a:r>
              <a:t>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PULVERIZADOR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Controla: Humedad ambiente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200400"/>
            <a:ext cx="3108960" cy="27432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ON si hum_amb &lt; 20%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ON si temp &gt; 35°C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CCCCDD"/>
                </a:solidFill>
                <a:latin typeface="Segoe UI"/>
              </a:rPr>
              <a:t>OFF si hum_amb &gt; 50%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43600"/>
            <a:ext cx="10789920" cy="640080"/>
          </a:xfrm>
          <a:prstGeom prst="roundRect">
            <a:avLst/>
          </a:prstGeom>
          <a:solidFill>
            <a:srgbClr val="112211"/>
          </a:solidFill>
          <a:ln w="19050">
            <a:solidFill>
              <a:srgbClr val="008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89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Segoe UI"/>
              </a:defRPr>
            </a:pPr>
            <a:r>
              <a:t>▸ Evaluación continua cada 0.5s → LED naranja (crítico), amarillo (alerta), verde (normal)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FFF"/>
                </a:solidFill>
                <a:latin typeface="Segoe UI"/>
              </a:defRPr>
            </a:pPr>
            <a:r>
              <a:t>BASE DE DATOS — SUPABASE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PostgreSQL en la nube con 6 tablas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FF"/>
                </a:solidFill>
                <a:latin typeface="Segoe UI"/>
              </a:defRPr>
            </a:pPr>
            <a:r>
              <a:t>monitoreo_lecturas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Lecturas de sensores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sensor_id, valor_lectura, fecha_hora</a:t>
            </a:r>
            <a:br/>
            <a:r>
              <a:t>50 sensores, IDs 0-49</a:t>
            </a:r>
            <a:br/>
            <a:r>
              <a:t>Batch insert (10 filas/POST)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Segoe UI"/>
              </a:defRPr>
            </a:pPr>
            <a:r>
              <a:t>sensores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Catálogo de sensores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50 registros</a:t>
            </a:r>
            <a:br/>
            <a:r>
              <a:t>Tipo, maceta, fórmula de ID</a:t>
            </a:r>
            <a:br/>
            <a:r>
              <a:t>Dispositivo asociado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simulacion_alertas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Alertas de simulación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tipo, sensor, valor, maceta</a:t>
            </a:r>
            <a:br/>
            <a:r>
              <a:t>activa=true → override activo</a:t>
            </a:r>
            <a:br/>
            <a:r>
              <a:t>Cleanup 300s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Segoe UI"/>
              </a:defRPr>
            </a:pPr>
            <a:r>
              <a:t>control_actuadores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Comandos de relays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dispositivo, actuador, pin</a:t>
            </a:r>
            <a:br/>
            <a:r>
              <a:t>PENDIENTE → EJECUTADO</a:t>
            </a:r>
            <a:br/>
            <a:r>
              <a:t>Via piggyback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configuracion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Umbrales por dispositivo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JSONB: temp, humAmb,</a:t>
            </a:r>
            <a:br/>
            <a:r>
              <a:t>humSuelo, ph (min/max)</a:t>
            </a:r>
            <a:br/>
            <a:r>
              <a:t>Upsert on save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474720" cy="201168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CCC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DD"/>
                </a:solidFill>
                <a:latin typeface="Segoe UI"/>
              </a:defRPr>
            </a:pPr>
            <a:r>
              <a:t>dispositivos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Nodos ESP32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 registros (IDs 1-5)</a:t>
            </a:r>
            <a:br/>
            <a:r>
              <a:t>1 por invernadero</a:t>
            </a:r>
            <a:br/>
            <a:r>
              <a:t>Estado de conexión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0"/>
                </a:solidFill>
                <a:latin typeface="Segoe UI"/>
              </a:defRPr>
            </a:pPr>
            <a:r>
              <a:t>FRONTEND — PANEL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SPA Brutalista con diseño industrial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320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C85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554480" cy="27432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Gráfico en tiempo real</a:t>
            </a:r>
            <a:br/>
            <a:r>
              <a:t>cada 2 segundos</a:t>
            </a:r>
            <a:br/>
            <a:r>
              <a:t>Dual Y-axis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2103120" cy="320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Configuración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743200"/>
            <a:ext cx="1554480" cy="27432"/>
          </a:xfrm>
          <a:prstGeom prst="round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Umbrales guardados</a:t>
            </a:r>
            <a:br/>
            <a:r>
              <a:t>en Supabase</a:t>
            </a:r>
            <a:br/>
            <a:r>
              <a:t>4 parámetros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103120" cy="320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8C00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Simulación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743200"/>
            <a:ext cx="1554480" cy="27432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4 botones críticos</a:t>
            </a:r>
            <a:br/>
            <a:r>
              <a:t>Validación umbrales</a:t>
            </a:r>
            <a:br/>
            <a:r>
              <a:t>Override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645920"/>
            <a:ext cx="2103120" cy="320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D600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Tabla Sensores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743200"/>
            <a:ext cx="1554480" cy="27432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50 sensores en vivo</a:t>
            </a:r>
            <a:br/>
            <a:r>
              <a:t>Filtrado por módulo</a:t>
            </a:r>
            <a:br/>
            <a:r>
              <a:t>Actualización auto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645920"/>
            <a:ext cx="2103120" cy="320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4545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Juego Educativo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0" y="2743200"/>
            <a:ext cx="1554480" cy="27432"/>
          </a:xfrm>
          <a:prstGeom prst="round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Aprender riego</a:t>
            </a:r>
            <a:br/>
            <a:r>
              <a:t>8 amenazas</a:t>
            </a:r>
            <a:br/>
            <a:r>
              <a:t>Combo streaks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10789920" cy="1371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DD"/>
                </a:solidFill>
                <a:latin typeface="Segoe UI"/>
              </a:defRPr>
            </a:pPr>
            <a:r>
              <a:t>Stack del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HTML5  •  CSS3 (Brutalist)  •  JavaScript (SPA)  •  Chart.js  •  ModuleLoader (?v=7 cache bust)  •  EventBus  •  Hash Router  •  JetBrains Mono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OBJETIVOS DE DESARROLLO SOSTENIBLE (ODS)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Contribución del proyecto a la Agenda 2030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011680"/>
          </a:xfrm>
          <a:prstGeom prst="roundRect">
            <a:avLst/>
          </a:prstGeom>
          <a:solidFill>
            <a:srgbClr val="DD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Hambre Cero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Producción de alimentos frescos</a:t>
            </a:r>
            <a:br/>
            <a:r>
              <a:t>en el campus universitario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51760" cy="2011680"/>
          </a:xfrm>
          <a:prstGeom prst="roundRect">
            <a:avLst/>
          </a:prstGeom>
          <a:solidFill>
            <a:srgbClr val="C51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Educación de Calidad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65176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Aprendizaje experiencial</a:t>
            </a:r>
            <a:br/>
            <a:r>
              <a:t>con IoT y agricultura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651760" cy="2011680"/>
          </a:xfrm>
          <a:prstGeom prst="roundRect">
            <a:avLst/>
          </a:prstGeom>
          <a:solidFill>
            <a:srgbClr val="26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Agua Limpia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65176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Riego inteligente que</a:t>
            </a:r>
            <a:br/>
            <a:r>
              <a:t>optimiza el uso del agua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651760" cy="2011680"/>
          </a:xfrm>
          <a:prstGeom prst="roundRect">
            <a:avLst/>
          </a:prstGeom>
          <a:solidFill>
            <a:srgbClr val="FD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Industria e Innovación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65176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Tecnología IoT aplicada</a:t>
            </a:r>
            <a:br/>
            <a:r>
              <a:t>a producción agrícola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2651760" cy="2011680"/>
          </a:xfrm>
          <a:prstGeom prst="roundRect">
            <a:avLst/>
          </a:prstGeom>
          <a:solidFill>
            <a:srgbClr val="FD9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Ciudades Sostenibles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2920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66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Huerto urbano replicable</a:t>
            </a:r>
            <a:br/>
            <a:r>
              <a:t>en comunidades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023360"/>
            <a:ext cx="2651760" cy="2011680"/>
          </a:xfrm>
          <a:prstGeom prst="roundRect">
            <a:avLst/>
          </a:prstGeom>
          <a:solidFill>
            <a:srgbClr val="BF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Producción Responsable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502920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166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Uso eficiente de recursos</a:t>
            </a:r>
            <a:br/>
            <a:r>
              <a:t>orgánicos y locales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023360"/>
            <a:ext cx="2651760" cy="2011680"/>
          </a:xfrm>
          <a:prstGeom prst="roundRect">
            <a:avLst/>
          </a:prstGeom>
          <a:solidFill>
            <a:srgbClr val="3F7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Acción Climática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502920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166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Reducción de desperdicio</a:t>
            </a:r>
            <a:br/>
            <a:r>
              <a:t>hídrico y energético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023360"/>
            <a:ext cx="2651760" cy="2011680"/>
          </a:xfrm>
          <a:prstGeom prst="roundRect">
            <a:avLst/>
          </a:prstGeom>
          <a:solidFill>
            <a:srgbClr val="194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ODS 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Alianzas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5029200"/>
            <a:ext cx="2103120" cy="274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5166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Proyecto interdisciplinario</a:t>
            </a:r>
            <a:br/>
            <a:r>
              <a:t>universidad-comunidad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PRESUPUESTO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Inversión total: S/ 1,545 (electrónica)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89920" cy="457200"/>
          </a:xfrm>
          <a:prstGeom prst="roundRect">
            <a:avLst/>
          </a:prstGeom>
          <a:solidFill>
            <a:srgbClr val="008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Componente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P.Unit.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Subtotal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789920" cy="3200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Microcontrolador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ESP32 DevKit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67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67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167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789920" cy="320040"/>
          </a:xfrm>
          <a:prstGeom prst="roundRect">
            <a:avLst/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Sensor Humedad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87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Capacitivo v1.2/v2.0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87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87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87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788920"/>
            <a:ext cx="10789920" cy="3200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807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Sensor 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807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pH-sensor Breakout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108960"/>
            <a:ext cx="10789920" cy="320040"/>
          </a:xfrm>
          <a:prstGeom prst="roundRect">
            <a:avLst/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127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Sensor Ambiental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DHT22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27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127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127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429000"/>
            <a:ext cx="10789920" cy="3200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447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Pantalla Local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447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OLED 0.96" I2C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90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749039"/>
            <a:ext cx="10789920" cy="320040"/>
          </a:xfrm>
          <a:prstGeom prst="roundRect">
            <a:avLst/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7673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Expansor Salidas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7673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74HC595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7673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7673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7673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069079"/>
            <a:ext cx="10789920" cy="3200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08736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Módulo Relé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0873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Relé 1-4 canales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0873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0873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40873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120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389120"/>
            <a:ext cx="10789920" cy="320040"/>
          </a:xfrm>
          <a:prstGeom prst="roundRect">
            <a:avLst/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44074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Bomba de Agua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4074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Sumergible 5V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44074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4074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44074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40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709160"/>
            <a:ext cx="10789920" cy="3200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727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Ventilador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4727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Mini DC 5-12V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4727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727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4727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50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029200"/>
            <a:ext cx="10789920" cy="320040"/>
          </a:xfrm>
          <a:prstGeom prst="roundRect">
            <a:avLst/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5047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Panel Solar + Bat.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5047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Kit 5-6V + 18650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5047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5047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35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5047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175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5349240"/>
            <a:ext cx="10789920" cy="3200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53675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LEDs Indicadores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0" y="53675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Rojo/Verde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53675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53675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53675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20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5669279"/>
            <a:ext cx="10789920" cy="320040"/>
          </a:xfrm>
          <a:prstGeom prst="roundRect">
            <a:avLst/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" y="568756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Accesorios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0" y="56875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Cables, MUX, etc.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56875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56875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0" y="56875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S/ 110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6080759"/>
            <a:ext cx="10789920" cy="457200"/>
          </a:xfrm>
          <a:prstGeom prst="roundRect">
            <a:avLst/>
          </a:prstGeom>
          <a:solidFill>
            <a:srgbClr val="008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" y="6126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TOTAL ELECTRÓNICOS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0" y="6126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S/ 1,545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Resultados clave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89920" cy="100584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202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Segoe UI"/>
              </a:defRPr>
            </a:pPr>
            <a:r>
              <a:t>La integración IoT en agricultura universitaria es factible con recursos modestos. Un sistema funcional por menos de S/ 500 por módulo.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89920" cy="100584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10896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0896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Segoe UI"/>
              </a:defRPr>
            </a:pPr>
            <a:r>
              <a:t>El equipo desarrolló competencias prácticas en arquitectura IoT, redes, gestión de proyectos y presupuestación técnica.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789920" cy="100584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9768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Segoe UI"/>
              </a:defRPr>
            </a:pPr>
            <a:r>
              <a:t>La metodología combina trabajo de campo, investigación, simulación en Wokwi y Cisco Packet Tracer.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89920" cy="100584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48640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8640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Segoe UI"/>
              </a:defRPr>
            </a:pPr>
            <a:r>
              <a:t>El huerto sienta bases para innovación tecnológica y sostenibilidad en la UNHEVAL y la región Huánuco.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0789920" cy="7315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521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FFF"/>
                </a:solidFill>
                <a:latin typeface="Segoe UI"/>
              </a:defRPr>
            </a:pPr>
            <a:r>
              <a:t>▸ Repositorio: github.com/pgilian13-collab/huerto-puente  |  Demo: huerto-puente.onrender.com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Gracias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200400"/>
            <a:ext cx="2103120" cy="36576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B"/>
                </a:solidFill>
                <a:latin typeface="Segoe UI"/>
              </a:defRPr>
            </a:pPr>
            <a:r>
              <a:t>Sistema de Riego Inteligente — Huerto Universitario UNHEVAL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77"/>
                </a:solidFill>
                <a:latin typeface="Segoe UI"/>
              </a:defRPr>
            </a:pPr>
            <a:r>
              <a:t>Integrantes: Orbezo · Bernardo · Gilian · Dias · De la Cruz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77"/>
                </a:solidFill>
                <a:latin typeface="Segoe UI"/>
              </a:defRPr>
            </a:pPr>
            <a:r>
              <a:t>Dra. Ines Eusebia Jesus Tolentino  |  Ciencias Sociales y del Comportamiento Humano</a:t>
            </a:r>
          </a:p>
        </p:txBody>
      </p:sp>
      <p:sp>
        <p:nvSpPr>
          <p:cNvPr id="8" name="Oval 7"/>
          <p:cNvSpPr/>
          <p:nvPr/>
        </p:nvSpPr>
        <p:spPr>
          <a:xfrm>
            <a:off x="5394960" y="5303520"/>
            <a:ext cx="1371600" cy="137160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7840" y="5486400"/>
            <a:ext cx="1005840" cy="1005840"/>
          </a:xfrm>
          <a:prstGeom prst="ellipse">
            <a:avLst/>
          </a:prstGeom>
          <a:solidFill>
            <a:srgbClr val="008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5303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